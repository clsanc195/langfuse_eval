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72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>
                <a:solidFill>
                  <a:srgbClr val="006FCF"/>
                </a:solidFill>
                <a:latin typeface="Helvetica"/>
              </a:rPr>
              <a:t>LLM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1A1A1A"/>
                </a:solidFill>
                <a:latin typeface="Helvetica"/>
              </a:rPr>
              <a:t>A Comparative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4A4A4A"/>
                </a:solidFill>
                <a:latin typeface="Helvetica"/>
              </a:rPr>
              <a:t>Langfuse · LangSmith · Galileo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Helvetica"/>
              </a:rPr>
              <a:t>Carlos L Sanchez Vila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1A1A1A"/>
                </a:solidFill>
                <a:latin typeface="Helvetica"/>
              </a:rPr>
              <a:t>Production LLM applications need observability.
Three platforms compete to solve it.
Choosing well affects developer velocity, evaluation rigor, hosting cost, and vendor lock-in.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4206240"/>
            <a:ext cx="7619695" cy="1280160"/>
          </a:xfrm>
          <a:prstGeom prst="rect">
            <a:avLst/>
          </a:prstGeom>
          <a:solidFill>
            <a:srgbClr val="E6F1FB"/>
          </a:solidFill>
          <a:ln w="12700">
            <a:solidFill>
              <a:srgbClr val="006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/>
            <a:r>
              <a:rPr sz="1500" b="1">
                <a:solidFill>
                  <a:srgbClr val="00478F"/>
                </a:solidFill>
                <a:latin typeface="Helvetica"/>
              </a:rPr>
              <a:t>Goal: </a:t>
            </a:r>
            <a:r>
              <a:rPr sz="1500">
                <a:solidFill>
                  <a:srgbClr val="1A1A1A"/>
                </a:solidFill>
                <a:latin typeface="Helvetica"/>
              </a:rPr>
              <a:t>Build the same agent once. Trace it through all three platforms. Compare what we get — empirically, side-by-side, with the same code, the same data, the same prompts.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2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What We Evaluated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A4A4A"/>
                </a:solidFill>
                <a:latin typeface="Helvetica"/>
              </a:rPr>
              <a:t>Nineteen capability categories, ~120 features, three platforms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0" y="1828800"/>
          <a:ext cx="761969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847"/>
                <a:gridCol w="3809848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Category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Question answered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Trace observability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Can I see what my agent is doing?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Sessions / threads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Can I follow a multi-turn conversation?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Scoring &amp; evaluation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How do I know if it's good?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Datasets &amp; experiments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Can I regression-test it?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Prompt management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Can I version and deploy prompts?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In-request guardrails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Can I block bad outputs in flight?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Monitoring &amp; alerts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Will I know when production breaks?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Hosting &amp; pricing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What's the total cost of ownership?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SDK ergonomics &amp; ecosystem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How much friction to integrate?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3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The Three Contenders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00887" y="2011680"/>
            <a:ext cx="3474720" cy="54864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Langfuse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887" y="2560320"/>
            <a:ext cx="34747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 bIns="182880"/>
          <a:lstStyle/>
          <a:p>
            <a:pPr algn="ctr"/>
            <a:r>
              <a:rPr sz="1400">
                <a:solidFill>
                  <a:srgbClr val="1A1A1A"/>
                </a:solidFill>
                <a:latin typeface="Helvetica"/>
              </a:rPr>
              <a:t>OSS, MIT-licensed, self-hostable. Framework-agnostic. Cloud and on-prem.</a:t>
            </a:r>
          </a:p>
          <a:p>
            <a:pPr algn="ctr">
              <a:spcBef>
                <a:spcPts val="2000"/>
              </a:spcBef>
            </a:pPr>
            <a:r>
              <a:rPr sz="1100">
                <a:solidFill>
                  <a:srgbClr val="006FCF"/>
                </a:solidFill>
                <a:latin typeface="Helvetica"/>
              </a:rPr>
              <a:t>langfuse.com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4358487" y="2011680"/>
            <a:ext cx="3474720" cy="54864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LangSmith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358487" y="2560320"/>
            <a:ext cx="34747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 bIns="182880"/>
          <a:lstStyle/>
          <a:p>
            <a:pPr algn="ctr"/>
            <a:r>
              <a:rPr sz="1400">
                <a:solidFill>
                  <a:srgbClr val="1A1A1A"/>
                </a:solidFill>
                <a:latin typeface="Helvetica"/>
              </a:rPr>
              <a:t>Built by LangChain. SaaS-first, deepest LangGraph integration, most polished UX.</a:t>
            </a:r>
          </a:p>
          <a:p>
            <a:pPr algn="ctr">
              <a:spcBef>
                <a:spcPts val="2000"/>
              </a:spcBef>
            </a:pPr>
            <a:r>
              <a:rPr sz="1100">
                <a:solidFill>
                  <a:srgbClr val="006FCF"/>
                </a:solidFill>
                <a:latin typeface="Helvetica"/>
              </a:rPr>
              <a:t>smith.langchain.com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8016087" y="2011680"/>
            <a:ext cx="3474720" cy="54864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Galileo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6087" y="2560320"/>
            <a:ext cx="34747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 bIns="182880"/>
          <a:lstStyle/>
          <a:p>
            <a:pPr algn="ctr"/>
            <a:r>
              <a:rPr sz="1400">
                <a:solidFill>
                  <a:srgbClr val="1A1A1A"/>
                </a:solidFill>
                <a:latin typeface="Helvetica"/>
              </a:rPr>
              <a:t>Evaluation-first. Auto-metrics on every trace. Only platform with in-request guardrails.</a:t>
            </a:r>
          </a:p>
          <a:p>
            <a:pPr algn="ctr">
              <a:spcBef>
                <a:spcPts val="2000"/>
              </a:spcBef>
            </a:pPr>
            <a:r>
              <a:rPr sz="1100">
                <a:solidFill>
                  <a:srgbClr val="006FCF"/>
                </a:solidFill>
                <a:latin typeface="Helvetica"/>
              </a:rPr>
              <a:t>app.galileo.ai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4 /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Helvetica"/>
              </a:rPr>
              <a:t>Built once. Ran three times.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377440"/>
            <a:ext cx="670529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1A1A"/>
                </a:solidFill>
                <a:latin typeface="Helvetica"/>
              </a:rPr>
              <a:t>•  One LangGraph agent — a permission-checking helpdesk bot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1A1A"/>
                </a:solidFill>
                <a:latin typeface="Helvetica"/>
              </a:rPr>
              <a:t>•  Four tools — chained by dependency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1A1A"/>
                </a:solidFill>
                <a:latin typeface="Helvetica"/>
              </a:rPr>
              <a:t>•  Five scenarios — covering 1 / 2 / 3 / 4 tool calls + an error path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1A1A"/>
                </a:solidFill>
                <a:latin typeface="Helvetica"/>
              </a:rPr>
              <a:t>•  Identical instrumentation pattern across all three platforms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1A1A"/>
                </a:solidFill>
                <a:latin typeface="Helvetica"/>
              </a:rPr>
              <a:t>•  Prompts pulled from each platform's registry at runtime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1A1A"/>
                </a:solidFill>
                <a:latin typeface="Helvetica"/>
              </a:rPr>
              <a:t>•  Datasets registered in each platform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5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The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A4A4A"/>
                </a:solidFill>
                <a:latin typeface="Helvetica"/>
              </a:rPr>
              <a:t>LangGraph ReAct loop — agent node + tool node + conditional routing</a:t>
            </a:r>
          </a:p>
        </p:txBody>
      </p:sp>
      <p:sp>
        <p:nvSpPr>
          <p:cNvPr id="4" name="Oval 3"/>
          <p:cNvSpPr/>
          <p:nvPr/>
        </p:nvSpPr>
        <p:spPr>
          <a:xfrm>
            <a:off x="960120" y="3154680"/>
            <a:ext cx="1005840" cy="100584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"/>
              </a:rPr>
              <a:t>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3108960"/>
            <a:ext cx="2286000" cy="1097280"/>
          </a:xfrm>
          <a:prstGeom prst="roundRect">
            <a:avLst>
              <a:gd name="adj" fmla="val 12000"/>
            </a:avLst>
          </a:prstGeom>
          <a:solidFill>
            <a:srgbClr val="006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</a:rPr>
              <a:t>agent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CCE5F7"/>
                </a:solidFill>
                <a:latin typeface="Helvetica"/>
              </a:rPr>
              <a:t>ChatAnthropic +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4572000"/>
            <a:ext cx="42062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006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6FCF"/>
                </a:solidFill>
                <a:latin typeface="Helvetica"/>
              </a:rPr>
              <a:t>ToolNode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4A4A4A"/>
                </a:solidFill>
                <a:latin typeface="Helvetica"/>
              </a:rPr>
              <a:t>get_ads_id · get_permissions</a:t>
            </a:r>
          </a:p>
          <a:p>
            <a:pPr algn="ctr"/>
            <a:r>
              <a:rPr sz="1100">
                <a:solidFill>
                  <a:srgbClr val="4A4A4A"/>
                </a:solidFill>
                <a:latin typeface="Helvetica"/>
              </a:rPr>
              <a:t>check_admin_access · get_employee_profile</a:t>
            </a:r>
          </a:p>
        </p:txBody>
      </p:sp>
      <p:sp>
        <p:nvSpPr>
          <p:cNvPr id="7" name="Oval 6"/>
          <p:cNvSpPr/>
          <p:nvPr/>
        </p:nvSpPr>
        <p:spPr>
          <a:xfrm>
            <a:off x="9921240" y="3154680"/>
            <a:ext cx="1005840" cy="100584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"/>
              </a:rPr>
              <a:t>END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65960" y="3657600"/>
            <a:ext cx="77724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343400.0" y="4206240.0"/>
            <a:ext cx="2770632.0" cy="365760.0"/>
          </a:xfrm>
          <a:prstGeom prst="line">
            <a:avLst/>
          </a:prstGeom>
          <a:ln w="31750">
            <a:solidFill>
              <a:srgbClr val="006FC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0" y="4206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6FCF"/>
                </a:solidFill>
                <a:latin typeface="Helvetica"/>
              </a:rPr>
              <a:t>if tool_calls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3429000.0" y="4206240.0"/>
            <a:ext cx="3264408.0" cy="365760.0"/>
          </a:xfrm>
          <a:prstGeom prst="line">
            <a:avLst/>
          </a:prstGeom>
          <a:ln w="25400">
            <a:solidFill>
              <a:srgbClr val="1A1A1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3566160"/>
            <a:ext cx="489204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0" y="3154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Helvetica"/>
              </a:rPr>
              <a:t>else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Helvetica"/>
              </a:rPr>
              <a:t>Conditional edge: if last AIMessage contains tool_calls → tools, else → END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6 / 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The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A4A4A"/>
                </a:solidFill>
                <a:latin typeface="Helvetica"/>
              </a:rPr>
              <a:t>Chained by dependency — each tool's output feeds the next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011680"/>
          <a:ext cx="1036289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Tool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Input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Output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Used when…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get_ads_id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employee name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ads_id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any question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get_permissions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ads_id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list of permissions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"what access does X have?"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check_admin_access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permissions, resource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boolean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"does X have admin on Y?"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get_employee_profile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ads_id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role / team / manager / tenure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"who is X, is access appropriate?"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7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The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A4A4A"/>
                </a:solidFill>
                <a:latin typeface="Helvetica"/>
              </a:rPr>
              <a:t>Same agent, varying complexity. The model decides how many tools to call.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Scenario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Question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Tools called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Eval style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one_tool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"What's the ads_id for Jane Doe?"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exact match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two_tools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"What permissions does Alice Nguyen have?"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set comparison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three_tools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"Does Jane Doe have admin on billing-prod?"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boolean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judgment_call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"Explain who Jane Doe is and whether she should keep admin…"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LLM-as-judge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error_path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"What's the ads_id for Nobody McNobody?"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1*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error handling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4864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Helvetica"/>
              </a:rPr>
              <a:t>* Returns an error string; agent should recover, not fabricate.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8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Instrumentation Effort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A4A4A"/>
                </a:solidFill>
                <a:latin typeface="Helvetica"/>
              </a:rPr>
              <a:t>For a LangGraph agent — how much code does each platform require?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7" y="20116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06FCF"/>
                </a:solidFill>
                <a:latin typeface="Helvetica"/>
              </a:rPr>
              <a:t>Langfuse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2560320"/>
            <a:ext cx="3566160" cy="2377440"/>
          </a:xfrm>
          <a:prstGeom prst="rect">
            <a:avLst/>
          </a:prstGeom>
          <a:solidFill>
            <a:srgbClr val="F7F8FA"/>
          </a:solidFill>
          <a:ln w="12700">
            <a:solidFill>
              <a:srgbClr val="006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bIns="137160"/>
          <a:lstStyle/>
          <a:p>
            <a:pPr algn="l"/>
            <a:r>
              <a:rPr sz="1000">
                <a:solidFill>
                  <a:srgbClr val="1A1A1A"/>
                </a:solidFill>
                <a:latin typeface="Menlo"/>
              </a:rPr>
              <a:t>from langfuse.langchain import CallbackHandler</a:t>
            </a:r>
          </a:p>
          <a:p>
            <a:pPr algn="l"/>
            <a:r>
              <a:rPr sz="100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1A1A1A"/>
                </a:solidFill>
                <a:latin typeface="Menlo"/>
              </a:rPr>
              <a:t>agent.invoke(state, config={</a:t>
            </a:r>
          </a:p>
          <a:p>
            <a:pPr algn="l"/>
            <a:r>
              <a:rPr sz="1000">
                <a:solidFill>
                  <a:srgbClr val="1A1A1A"/>
                </a:solidFill>
                <a:latin typeface="Menlo"/>
              </a:rPr>
              <a:t>    "callbacks": [CallbackHandler()]</a:t>
            </a:r>
          </a:p>
          <a:p>
            <a:pPr algn="l"/>
            <a:r>
              <a:rPr sz="1000">
                <a:solidFill>
                  <a:srgbClr val="1A1A1A"/>
                </a:solidFill>
                <a:latin typeface="Menlo"/>
              </a:rPr>
              <a:t>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447" y="50292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Helvetica"/>
              </a:rPr>
              <a:t>1 callback + 3 env vars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2767" y="20116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06FCF"/>
                </a:solidFill>
                <a:latin typeface="Helvetica"/>
              </a:rPr>
              <a:t>LangSmith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2767" y="2560320"/>
            <a:ext cx="3566160" cy="2377440"/>
          </a:xfrm>
          <a:prstGeom prst="rect">
            <a:avLst/>
          </a:prstGeom>
          <a:solidFill>
            <a:srgbClr val="F7F8FA"/>
          </a:solidFill>
          <a:ln w="12700">
            <a:solidFill>
              <a:srgbClr val="006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bIns="137160"/>
          <a:lstStyle/>
          <a:p>
            <a:pPr algn="l"/>
            <a:r>
              <a:rPr sz="1000">
                <a:solidFill>
                  <a:srgbClr val="1A1A1A"/>
                </a:solidFill>
                <a:latin typeface="Menlo"/>
              </a:rPr>
              <a:t># no code change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1A1A1A"/>
                </a:solidFill>
                <a:latin typeface="Menlo"/>
              </a:rPr>
              <a:t>os.environ["LANGSMITH_TRACING"] = "true"</a:t>
            </a:r>
          </a:p>
          <a:p>
            <a:pPr algn="l"/>
            <a:r>
              <a:rPr sz="1000">
                <a:solidFill>
                  <a:srgbClr val="1A1A1A"/>
                </a:solidFill>
                <a:latin typeface="Menlo"/>
              </a:rPr>
              <a:t># + LANGSMITH_API_KEY</a:t>
            </a:r>
          </a:p>
          <a:p>
            <a:pPr algn="l"/>
            <a:r>
              <a:rPr sz="1000">
                <a:solidFill>
                  <a:srgbClr val="1A1A1A"/>
                </a:solidFill>
                <a:latin typeface="Menlo"/>
              </a:rPr>
              <a:t># + LANGSMITH_PROJECT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2767" y="50292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Helvetica"/>
              </a:rPr>
              <a:t>3 env vars, zero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6087" y="20116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06FCF"/>
                </a:solidFill>
                <a:latin typeface="Helvetica"/>
              </a:rPr>
              <a:t>Galileo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6087" y="2560320"/>
            <a:ext cx="3566160" cy="2377440"/>
          </a:xfrm>
          <a:prstGeom prst="rect">
            <a:avLst/>
          </a:prstGeom>
          <a:solidFill>
            <a:srgbClr val="F7F8FA"/>
          </a:solidFill>
          <a:ln w="12700">
            <a:solidFill>
              <a:srgbClr val="006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bIns="137160"/>
          <a:lstStyle/>
          <a:p>
            <a:pPr algn="l"/>
            <a:r>
              <a:rPr sz="1000">
                <a:solidFill>
                  <a:srgbClr val="1A1A1A"/>
                </a:solidFill>
                <a:latin typeface="Menlo"/>
              </a:rPr>
              <a:t>from galileo.handlers.langchain import GalileoCallback</a:t>
            </a:r>
          </a:p>
          <a:p>
            <a:pPr algn="l"/>
            <a:r>
              <a:rPr sz="100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1A1A1A"/>
                </a:solidFill>
                <a:latin typeface="Menlo"/>
              </a:rPr>
              <a:t>agent.invoke(state, config={</a:t>
            </a:r>
          </a:p>
          <a:p>
            <a:pPr algn="l"/>
            <a:r>
              <a:rPr sz="1000">
                <a:solidFill>
                  <a:srgbClr val="1A1A1A"/>
                </a:solidFill>
                <a:latin typeface="Menlo"/>
              </a:rPr>
              <a:t>    "callbacks": [GalileoCallback()]</a:t>
            </a:r>
          </a:p>
          <a:p>
            <a:pPr algn="l"/>
            <a:r>
              <a:rPr sz="1000">
                <a:solidFill>
                  <a:srgbClr val="1A1A1A"/>
                </a:solidFill>
                <a:latin typeface="Menlo"/>
              </a:rPr>
              <a:t>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6087" y="50292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Helvetica"/>
              </a:rPr>
              <a:t>1 callback + 3 env vars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Helvetica"/>
              </a:rPr>
              <a:t>Outside LangChain code, all three require explicit instrumentation:
Langfuse @observe, LangSmith @traceable, Galileo @log.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9 / 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Trace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A4A4A"/>
                </a:solidFill>
                <a:latin typeface="Helvetica"/>
              </a:rPr>
              <a:t>All three render the same hierarchy: agent → tool → agent → tool → 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Capability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Langfuse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LangSmith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Galileo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Hierarchical span tree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⭐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LLM call detail (prompt, completion, tokens)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Tool call detail (input, output, status)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Latency rollups (p50/p95/p99)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⭐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Cost tracking (built-in pricing)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Streaming response capture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⭐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Helvetica"/>
              </a:rPr>
              <a:t>⭐ best-in-class · ✅ supported · ⚠️ partial · ❌ missing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10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Multi-turn /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A4A4A"/>
                </a:solidFill>
                <a:latin typeface="Helvetica"/>
              </a:rPr>
              <a:t>Three turns of a conversation, grouped under one ID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/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Langfuse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LangSmith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Galileo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Session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Thread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Session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Metadata key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langfuse_session_id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thread_id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session_id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UI rendering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list of traces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⭐ chat UI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list of traces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Per-session aggregates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Session-level scoring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6F00"/>
                          </a:solidFill>
                          <a:latin typeface="Helvetica"/>
                        </a:rPr>
                        <a:t>⚠️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Helvetica"/>
              </a:rPr>
              <a:t>Winner: LangSmith Threads — only platform with a true chat-UI rendering of multi-turn data.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11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Scoring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A4A4A"/>
                </a:solidFill>
                <a:latin typeface="Helvetica"/>
              </a:rPr>
              <a:t>All three support auto-running evaluators. The difference is what runs by default.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11680"/>
          <a:ext cx="110944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/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Setup effort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What runs by default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Langfuse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configure: model + prompt + filter + sampling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nothing — opt-in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LangSmith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configure: Online Evaluator rule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nothing — opt-in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Galileo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zero config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Tool Selection · Action Completion · Context Adherence · Instruction Adherence · Tool Error Rate · Hallucination · Toxicity · PII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371600" y="4572000"/>
            <a:ext cx="9448495" cy="1371600"/>
          </a:xfrm>
          <a:prstGeom prst="rect">
            <a:avLst/>
          </a:prstGeom>
          <a:solidFill>
            <a:srgbClr val="E6F1FB"/>
          </a:solidFill>
          <a:ln w="12700">
            <a:solidFill>
              <a:srgbClr val="006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l"/>
            <a:r>
              <a:rPr sz="1300" b="1">
                <a:solidFill>
                  <a:srgbClr val="00478F"/>
                </a:solidFill>
                <a:latin typeface="Helvetica"/>
              </a:rPr>
              <a:t>Once configured, </a:t>
            </a:r>
            <a:r>
              <a:rPr sz="1300">
                <a:solidFill>
                  <a:srgbClr val="1A1A1A"/>
                </a:solidFill>
                <a:latin typeface="Helvetica"/>
              </a:rPr>
              <a:t>Langfuse and LangSmith evaluators run server-side on every matching trace, the same way Galileo's auto-metrics do. The real choice is whether the defaults pick the rubric for you, or whether you pick it yourself.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12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Galileo's Headline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A4A4A"/>
                </a:solidFill>
                <a:latin typeface="Helvetica"/>
              </a:rPr>
              <a:t>Auto-metrics on every trace. No config, no prompt template, no sampling rate.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828800"/>
          <a:ext cx="85340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047"/>
                <a:gridCol w="426704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Metric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What it measures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Tool Selection Quality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Did the agent pick correct tools?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Action Completion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Did the multi-step task finish?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Context Adherence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Did the response stay grounded in tool outputs?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Instruction Adherence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Did it follow the system prompt?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Tool Error Rate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Fraction of tool calls that errored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Hallucination (ChainPoll)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Fabricated facts not in source material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elvetica"/>
                        </a:rPr>
                        <a:t>Toxicity / PII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Helvetica"/>
                        </a:rPr>
                        <a:t>Safety signals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Helvetica"/>
              </a:rPr>
              <a:t>Trade-off: opinionated defaults catch obvious problems out of the box;
can be noise for teams with specific quality rubrics.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13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Prompt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A4A4A"/>
                </a:solidFill>
                <a:latin typeface="Helvetica"/>
              </a:rPr>
              <a:t>All three offer versioned prompt registries. The data models diverge.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72865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/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Langfuse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LangSmith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Galileo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Versioning model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sequential + mutable labels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⭐ git-style commits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sequential only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Format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raw string OR chat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LangChain Runnable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chat messages only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Scoping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project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workspace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project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Public sharing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⭐ Prompt Hub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Idempotent push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⭐ 409 native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Pull from SDK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string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Runnable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JSON-parse needed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14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Datasets &amp;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A4A4A"/>
                </a:solidFill>
                <a:latin typeface="Helvetica"/>
              </a:rPr>
              <a:t>Registries of inputs / expected outputs. Run the agent. Compare runs.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72865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/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Langfuse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LangSmith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Galileo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Create dataset via SDK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Trace → dataset promotion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⭐ one-click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Splits (train / test / eval)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⭐ unique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Item-level immutable versions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6F00"/>
                          </a:solidFill>
                          <a:latin typeface="Helvetica"/>
                        </a:rPr>
                        <a:t>⚠️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⭐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6F00"/>
                          </a:solidFill>
                          <a:latin typeface="Helvetica"/>
                        </a:rPr>
                        <a:t>⚠️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Synthetic dataset generation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⭐ unique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Pairwise A/B comparison UI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6F00"/>
                          </a:solidFill>
                          <a:latin typeface="Helvetica"/>
                        </a:rPr>
                        <a:t>⚠️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⭐ unique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6F00"/>
                          </a:solidFill>
                          <a:latin typeface="Helvetica"/>
                        </a:rPr>
                        <a:t>⚠️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15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In-Request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A4A4A"/>
                </a:solidFill>
                <a:latin typeface="Helvetica"/>
              </a:rPr>
              <a:t>The category Galileo owns alone — sits in the request path, blocks bad outputs in flight.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/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Langfuse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LangSmith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Galileo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Real-time blocking / modification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⭐ Protect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Hallucination block in flight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⭐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PII redaction at gateway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⭐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Toxicity / safety blocking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⭐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Custom guardrail rules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⭐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Helvetica"/>
              </a:rPr>
              <a:t>Langfuse and LangSmith are post-hoc observability.
Galileo Protect operates pre-response. Different product category.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16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Hosting &amp;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A4A4A"/>
                </a:solidFill>
                <a:latin typeface="Helvetica"/>
              </a:rPr>
              <a:t>Self-host availability, free-tier shape, signup friction.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72865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/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Langfuse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LangSmith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Galileo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OSS free self-host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⭐ MIT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Managed SaaS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✅ Cloud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⭐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Enterprise self-host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✅ Helm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✅ VPC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Free tier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Hobby OR self-host forever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Developer · 5k traces/mo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Helvetica"/>
                        </a:rPr>
                        <a:t>Free · work email required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Personal email signup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3333"/>
                          </a:solidFill>
                          <a:latin typeface="Helvetica"/>
                        </a:rPr>
                        <a:t>❌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Public pricing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6F38"/>
                          </a:solidFill>
                          <a:latin typeface="Helvetica"/>
                        </a:rPr>
                        <a:t>✅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B26F00"/>
                          </a:solidFill>
                          <a:latin typeface="Helvetica"/>
                        </a:rPr>
                        <a:t>⚠️ some tiers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17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Where Each Uniquely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447" y="1828800"/>
            <a:ext cx="3566160" cy="50292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"/>
              </a:rPr>
              <a:t>Langfuse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447" y="2331720"/>
            <a:ext cx="35661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82880" bIns="137160"/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Only OSS / free self-host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Mutable label pointers for prompt deployment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Both raw-string AND chat prompt formats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Most mature OTEL ingestion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Full local dev via docker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HIPAA via self-host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312767" y="1828800"/>
            <a:ext cx="3566160" cy="50292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"/>
              </a:rPr>
              <a:t>LangSmith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2767" y="2331720"/>
            <a:ext cx="35661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82880" bIns="137160"/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Zero-config LangChain integration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Threads UI for chat debugging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Pairwise experiment comparison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Public Prompt Hub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Dataset splits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Trace-aware Playground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Most polished monitoring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016087" y="1828800"/>
            <a:ext cx="3566160" cy="50292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"/>
              </a:rPr>
              <a:t>Galileo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6087" y="2331720"/>
            <a:ext cx="35661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82880" bIns="137160"/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Auto-metrics on every trace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Galileo Protect — only in-request guardrails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Log Streams within a project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Synthetic dataset generation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Built-in PII detection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ChainPoll hallucination method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Helvetica"/>
              </a:rPr>
              <a:t>•  Continuous learning on metrics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18 /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Decision Guidance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A4A4A"/>
                </a:solidFill>
                <a:latin typeface="Helvetica"/>
              </a:rPr>
              <a:t>If your priority is X, pick 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72865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8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If your priority is…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Pick</a:t>
                      </a:r>
                    </a:p>
                  </a:txBody>
                  <a:tcPr marL="109728" marR="109728" marT="54864" marB="54864">
                    <a:solidFill>
                      <a:srgbClr val="006FC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Free self-host, OSS, data sovereignty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Langfuse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Lowest-friction LangChain / LangGraph integration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LangSmith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Most polished chat / multi-turn debugging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LangSmith (Threads)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Eval-first agent quality without setup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Galileo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Real-time production guardrails in the request path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Galileo (no peer)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Lowest cost at high trace volume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Langfuse self-host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Dataset / experiment workflow with pairwise compare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LangSmith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Public prompt sharing / community library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LangSmith Prompt Hub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elvetica"/>
                        </a:rPr>
                        <a:t>Least vendor lock-in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6FCF"/>
                          </a:solidFill>
                          <a:latin typeface="Helvetica"/>
                        </a:rPr>
                        <a:t>Langfuse (OSS + OTEL)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19 /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Honest Weaknesses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447" y="2194560"/>
            <a:ext cx="3566160" cy="502920"/>
          </a:xfrm>
          <a:prstGeom prst="rect">
            <a:avLst/>
          </a:prstGeom>
          <a:solidFill>
            <a:srgbClr val="B2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"/>
              </a:rPr>
              <a:t>Langfuse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447" y="2697480"/>
            <a:ext cx="3566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 bIns="182880"/>
          <a:lstStyle/>
          <a:p>
            <a:pPr algn="l"/>
            <a:r>
              <a:rPr sz="1300">
                <a:solidFill>
                  <a:srgbClr val="1A1A1A"/>
                </a:solidFill>
                <a:latin typeface="Helvetica"/>
              </a:rPr>
              <a:t>UI polish trails LangSmith. Monitoring dashboards less mature. Self-host = self-operate (cost moves from license to ops).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12767" y="2194560"/>
            <a:ext cx="3566160" cy="502920"/>
          </a:xfrm>
          <a:prstGeom prst="rect">
            <a:avLst/>
          </a:prstGeom>
          <a:solidFill>
            <a:srgbClr val="B2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"/>
              </a:rPr>
              <a:t>LangSmith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2767" y="2697480"/>
            <a:ext cx="3566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 bIns="182880"/>
          <a:lstStyle/>
          <a:p>
            <a:pPr algn="l"/>
            <a:r>
              <a:rPr sz="1300">
                <a:solidFill>
                  <a:srgbClr val="1A1A1A"/>
                </a:solidFill>
                <a:latin typeface="Helvetica"/>
              </a:rPr>
              <a:t>SaaS-only at the community tier. No free self-host. Vendor-tied to LangChain even though it works elsewhere via @traceable.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16087" y="2194560"/>
            <a:ext cx="3566160" cy="502920"/>
          </a:xfrm>
          <a:prstGeom prst="rect">
            <a:avLst/>
          </a:prstGeom>
          <a:solidFill>
            <a:srgbClr val="B2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"/>
              </a:rPr>
              <a:t>Galileo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6087" y="2697480"/>
            <a:ext cx="3566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 bIns="182880"/>
          <a:lstStyle/>
          <a:p>
            <a:pPr algn="l"/>
            <a:r>
              <a:rPr sz="1300">
                <a:solidFill>
                  <a:srgbClr val="1A1A1A"/>
                </a:solidFill>
                <a:latin typeface="Helvetica"/>
              </a:rPr>
              <a:t>Work-email signup gate. SDK API churn between versions. Documentation lighter than the others. Smaller framework ecosystem. Pricing less transparent.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20 /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6FCF"/>
                </a:solidFill>
                <a:latin typeface="Helvetica"/>
              </a:rPr>
              <a:t>What This Repo Proves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Helvetica"/>
              </a:rPr>
              <a:t>•  Same LangGraph agent, instrumented for all three platforms — no code branching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Helvetica"/>
              </a:rPr>
              <a:t>•  Prompts pushed to all three registries — content-aware, idempotent push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Helvetica"/>
              </a:rPr>
              <a:t>•  Datasets registered in each platform with the correct per-platform schema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Helvetica"/>
              </a:rPr>
              <a:t>•  Sessions / threads grouping verified end-to-end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Helvetica"/>
              </a:rPr>
              <a:t>•  Programmatic scores attached via SDK (Langfuse, LangSmith)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Helvetica"/>
              </a:rPr>
              <a:t>•  LLM-as-judge auto-evaluators running on every trace (Galileo) or on filtered traces (Langfuse, LangSmith)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Helvetica"/>
              </a:rPr>
              <a:t>•  5 scenarios × 3 platforms × 11 notebooks — all validated headlessly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A4A4A"/>
                </a:solidFill>
                <a:latin typeface="Helvetica"/>
              </a:rPr>
              <a:t>21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Helvetica"/>
              </a:rPr>
              <a:t>LLM Observability — A Comparative Evaluation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72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>
                <a:solidFill>
                  <a:srgbClr val="006FCF"/>
                </a:solidFill>
                <a:latin typeface="Helvetica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1A1A1A"/>
                </a:solidFill>
                <a:latin typeface="Helvetica"/>
              </a:rPr>
              <a:t>Same agent. Three platforms. Side by side.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4A4A4A"/>
                </a:solidFill>
                <a:latin typeface="Helvetica"/>
              </a:rPr>
              <a:t>Watch the same trace in Langfuse, LangSmith, and Galileo.
See what's identical, what diverges, what each platform makes easy.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72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>
                <a:solidFill>
                  <a:srgbClr val="006FCF"/>
                </a:solidFill>
                <a:latin typeface="Helvetica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A4A4A"/>
                </a:solidFill>
                <a:latin typeface="Menlo"/>
              </a:rPr>
              <a:t>observability_comparison/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Menlo"/>
              </a:rPr>
              <a:t>docs/comparison.md  ·  docs/feature_matrix.md  ·  docs/recording_guide.md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