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9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54864" cy="2194560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platforms, one agent, side by side.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383280"/>
            <a:ext cx="1143000" cy="347472"/>
          </a:xfrm>
          <a:prstGeom prst="rect">
            <a:avLst/>
          </a:prstGeom>
          <a:solidFill>
            <a:srgbClr val="E5F2FB"/>
          </a:solidFill>
          <a:ln w="9525">
            <a:solidFill>
              <a:srgbClr val="006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3383280"/>
            <a:ext cx="1143000" cy="347472"/>
          </a:xfrm>
          <a:prstGeom prst="rect">
            <a:avLst/>
          </a:prstGeom>
          <a:solidFill>
            <a:srgbClr val="E5F2FB"/>
          </a:solidFill>
          <a:ln w="9525">
            <a:solidFill>
              <a:srgbClr val="006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65960" y="3383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383280"/>
            <a:ext cx="1143000" cy="347472"/>
          </a:xfrm>
          <a:prstGeom prst="rect">
            <a:avLst/>
          </a:prstGeom>
          <a:solidFill>
            <a:srgbClr val="E5F2FB"/>
          </a:solidFill>
          <a:ln w="9525">
            <a:solidFill>
              <a:srgbClr val="006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3383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4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L Sanchez Vila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features: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964737"/>
              </p:ext>
            </p:extLst>
          </p:nvPr>
        </p:nvGraphicFramePr>
        <p:xfrm>
          <a:off x="457200" y="1554480"/>
          <a:ext cx="8229600" cy="2438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answered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observability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see what my agent is doing?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/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follow a multi-turn conversation?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&amp;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I know if it's good?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 &amp; experiments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regression-test it?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version and deploy prompts?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strike="sngStrike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In-request guardrails</a:t>
                      </a:r>
                      <a:endParaRPr lang="en-US" sz="1100" strike="sngStrike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block bad outputs in flight?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I know when production breaks?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&amp;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the total cost of ownership?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ergonomics &amp;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friction to integrate?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2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contenders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09728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OSS, MIT-licensed, self-hostable. Framework-agnostic. Cloud and on-prem.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8980" y="1554480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8980" y="1554480"/>
            <a:ext cx="2606040" cy="109728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330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3300" y="2194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43300" y="28346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LangChain. SaaS-first, deepest LangGraph integration, most polished UX.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3300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smith.langchain.com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554480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554480"/>
            <a:ext cx="2606040" cy="109728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194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55080" y="28346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Evaluation-first. Auto-metrics on every trace. Only platform with in-request guardrails.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app.galileo.ai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once. Ran three times.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solidFill>
            <a:srgbClr val="E5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LangGraph 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299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permission-checking helpdesk bot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457200" cy="457200"/>
          </a:xfrm>
          <a:prstGeom prst="rect">
            <a:avLst/>
          </a:prstGeom>
          <a:solidFill>
            <a:srgbClr val="E5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0299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by dependency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E5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scenarios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0815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1 / 2 / 3 / 4 tool calls + an error path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834640"/>
            <a:ext cx="457200" cy="457200"/>
          </a:xfrm>
          <a:prstGeom prst="rect">
            <a:avLst/>
          </a:prstGeom>
          <a:solidFill>
            <a:srgbClr val="E5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788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instrumentation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0815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across all three platforms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solidFill>
            <a:srgbClr val="E5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8404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at runtime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1330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each platform's registry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3886200"/>
            <a:ext cx="457200" cy="457200"/>
          </a:xfrm>
          <a:prstGeom prst="rect">
            <a:avLst/>
          </a:prstGeom>
          <a:solidFill>
            <a:srgbClr val="E5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177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8404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registered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41330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in each platform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9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loop — agent node, tool node, conditional routing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71700"/>
            <a:ext cx="457200" cy="4572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96596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E5F2FB"/>
          </a:solidFill>
          <a:ln w="15875">
            <a:solidFill>
              <a:srgbClr val="006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2075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4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ChatAnthropic + tools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2171700"/>
            <a:ext cx="457200" cy="45720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4380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400300"/>
            <a:ext cx="914400" cy="0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2400300"/>
            <a:ext cx="3383280" cy="0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52044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6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0" y="3593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ToolNode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3904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get_ads_id   ·   get_permissions   ·   check_admin_access   ·   get_employee_profile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2834640"/>
            <a:ext cx="0" cy="685800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63040" y="30632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tool_calls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3520440"/>
            <a:ext cx="0" cy="0"/>
          </a:xfrm>
          <a:prstGeom prst="line">
            <a:avLst/>
          </a:prstGeom>
          <a:noFill/>
          <a:ln w="15875">
            <a:solidFill>
              <a:srgbClr val="2D374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— if the last AIMessage contains tool_calls, route to tools; otherwise, route to END.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3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by dependency — each tool's output feeds the next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691640"/>
          <a:ext cx="8229600" cy="1600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when…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get_ads_id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get_permissions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access does X have?”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check_admin_access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permissions, 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“does X have admin on Y?”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get_employee_profile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/ team /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“who is X, is access appropriate?”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5" name="Shape 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52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varying complexity. The model decides how many tools to call.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691640"/>
          <a:ext cx="822960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one_tool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“What's the ads_id for Jane Doe?”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two_tools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permissions does Alice Nguyen have?”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three_tools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“Does Jane Doe have admin on billing-prod?”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judgment_call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“Explain who Jane Doe is and whether she should keep admin…”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error_path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“What's the ads_id for Nobody McNobody?”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Returns an error string; the agent should recover, not fabricate.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5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1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effort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LangGraph agent — how much code does each platform require?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97480" cy="1508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langfuse.langchain import CallbackHandler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agent.invoke(state, config={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"callbacks": [CallbackHandler()]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callback  ·  3 env vars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697480" cy="1508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code change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os.environ["LANGSMITH_TRACING"] = "true"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+ LANGSMITH_API_KEY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+ LANGSMITH_PROJECT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env vars  ·  zero 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691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2697480" cy="15087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galileo.handlers.langchain import GalileoCallback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agent.invoke(state, config={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"callbacks": [GalileoCallback()]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26480" y="3657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callback  ·  3 env vars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LangChain code, all three require explicit instrumentation: </a:t>
            </a:r>
            <a:r>
              <a:rPr lang="en-US" sz="1100" i="1" dirty="0">
                <a:solidFill>
                  <a:srgbClr val="004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 @observe</a:t>
            </a: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>
                <a:solidFill>
                  <a:srgbClr val="004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LangSmith @traceable</a:t>
            </a: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>
                <a:solidFill>
                  <a:srgbClr val="004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Galileo @log</a:t>
            </a: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72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render the same hierarchy: agent → tool → agent → tool → …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606544"/>
              </p:ext>
            </p:extLst>
          </p:nvPr>
        </p:nvGraphicFramePr>
        <p:xfrm>
          <a:off x="457200" y="1691640"/>
          <a:ext cx="8229600" cy="23317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span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 detail (prompt, completion,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detail (input, output, status)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rollups (p50/p95/p99)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tracking (built-in pricing)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response capture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2064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5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4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/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turns of a conversation, grouped under one ID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691640"/>
          <a:ext cx="8229600" cy="19659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langfuse_session_id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thread_id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rendering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traces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chat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traces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Per-session aggregates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Session-level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5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4160520"/>
            <a:ext cx="73152" cy="502920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 </a:t>
            </a: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Threads — the only platform with a true chat-UI rendering of multi-turn data.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83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support auto-running evaluators. The difference is what runs by default.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691640"/>
          <a:ext cx="8229600" cy="1783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runs by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model + prompt + filter + sampling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opt-in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Online Evaluator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opt-in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6F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Selection · Action Completion · Context Adherence · Instruction Adherence · Tool Error Rate · Hallucination · Toxicity · PII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configured, Langfuse and LangSmith evaluators run server-side on every matching trace, just like Galileo's auto-metrics. The real choice is whether the defaults pick the rubric for you, or whether you pick it yourself.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80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Galileo's headline feature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Auto-metrics on every trace. No config, no prompt template, no sampling rate.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69164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Selection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agent pick the correct tools?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Completion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multi-step task finish?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Adherence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response stay grounded in tool outputs?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Adherence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it follow the system prompt?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Error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tool calls that errored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(ChainPoll)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 facts not in source material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Toxicity / PII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signals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 </a:t>
            </a: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 defaults catch obvious problems out of the box; can be noise for teams with specific quality rubrics.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12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offer versioned prompt registries. The data models diverge.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1691640"/>
          <a:ext cx="822960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+ mutable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git-style commits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string OR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Runnable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messages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sharing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Prompt 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 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409 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from SDK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JSON-parse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2064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25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experiments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of inputs / expected outputs. Run the agent. Compare runs.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57200" y="1691640"/>
          <a:ext cx="8229600" cy="23317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dataset via SDK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→ dataset promotion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one-click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(train / test / eval)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Item-level immutable versions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dataset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Pairwise A/B comparison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2064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2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In-request guardrails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Galileo owns alone — sits in the request path, blocks bad outputs in flight.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200" y="1691640"/>
          <a:ext cx="8229600" cy="1996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blocking / modification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Protect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block in flight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redaction at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Toxicity / safety blocking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guardrail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E5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4206240"/>
            <a:ext cx="73152" cy="457200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and LangSmith are post-hoc observability.  </a:t>
            </a: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Protect operates pre-response — a different product category.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22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availability, free-tier shape, signup friction.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691640"/>
          <a:ext cx="8229600" cy="23164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free self-host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self-host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Helm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VPC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Hobby OR self-host forever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· 5k traces/mo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· work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email signup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some tiers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2064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2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uniquely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" cy="3154680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/ SOVEREIGNTY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20574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OSS / free self-host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label pointers for prompt deployment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raw-string AND chat prompt formats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mature OTEL ingestion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dev via Docker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via self-host control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8980" y="150876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8980" y="1508760"/>
            <a:ext cx="73152" cy="3154680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3300" y="1691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3300" y="20574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ECOSYSTEM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43300" y="2377440"/>
            <a:ext cx="20574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43300" y="24688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LangChain integration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UI for chat debugging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experiment comparison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Prompt Hub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Trace-aware Playground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606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73152" cy="3154680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691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0574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EVAL-FIRST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55080" y="2377440"/>
            <a:ext cx="20574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246888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Auto-metrics on every trace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Protect — only in-request guardrails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Streams within a project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generation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PII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ChainPoll hallucination method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7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priority is X, pick Y.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57200" y="1463040"/>
          <a:ext cx="8229600" cy="246380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your priority is…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self-host, OSS, data sovereignty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Lowest-friction LangChain / LangGraph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polished chat / multi-turn debugging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(Threads)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Eval-first agent quality without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production guardrails in the request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 (no peer)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cost at high trace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(self-host)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experiment workflow with pairwise compare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prompt sharing / community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Prompt 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vendor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4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(OSS + OTEL)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92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weaknesses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0972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20574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 trails LangSmith. Monitoring dashboards less mature. Self-host = self-operate (cost moves from license to ops).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8980" y="155448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8980" y="1554480"/>
            <a:ext cx="2606040" cy="10972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3300" y="1874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43300" y="2423160"/>
            <a:ext cx="20574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43300" y="256032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SaaS-only at the community tier. No free self-host. Vendor-tied to LangChain — even though it works elsewhere via @traceable.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55448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554480"/>
            <a:ext cx="2606040" cy="10972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2423160"/>
            <a:ext cx="20574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256032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Work-email signup gate. SDK API churn between versions. Documentation lighter than the others. Smaller framework ecosystem. Pricing less transparent.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27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1463040"/>
            <a:ext cx="548640" cy="54864"/>
          </a:xfrm>
          <a:prstGeom prst="rect">
            <a:avLst/>
          </a:prstGeom>
          <a:solidFill>
            <a:srgbClr val="006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0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agent. Three platforms. Side by side.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same trace in Langfuse, LangSmith, and Galileo.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identical, what diverges, and what each platform makes easy.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— A Comparative Evaluation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74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462B81-12C6-E448-AE80-BD4C4DDD541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aa8b3f2-0a70-4ad5-b0e3-80af7a22945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1827</Words>
  <Application>Microsoft Macintosh PowerPoint</Application>
  <PresentationFormat>On-screen Show (16:9)</PresentationFormat>
  <Paragraphs>499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Observability — A Comparative Evaluation</dc:title>
  <dc:subject>PptxGenJS Presentation</dc:subject>
  <dc:creator>Carlos L Sanchez Vila</dc:creator>
  <cp:lastModifiedBy>Carlos Sanchez</cp:lastModifiedBy>
  <cp:revision>2</cp:revision>
  <dcterms:created xsi:type="dcterms:W3CDTF">2026-05-18T23:04:02Z</dcterms:created>
  <dcterms:modified xsi:type="dcterms:W3CDTF">2026-05-18T23:27:13Z</dcterms:modified>
</cp:coreProperties>
</file>